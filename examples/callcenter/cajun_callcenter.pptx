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10"/>
    <p:restoredTop sz="94680"/>
  </p:normalViewPr>
  <p:slideViewPr>
    <p:cSldViewPr snapToGrid="0" snapToObjects="1">
      <p:cViewPr varScale="1">
        <p:scale>
          <a:sx n="123" d="100"/>
          <a:sy n="123" d="100"/>
        </p:scale>
        <p:origin x="1208" y="4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10058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Building a Call 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0312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0">
                <a:solidFill>
                  <a:srgbClr val="00D4AA"/>
                </a:solidFill>
                <a:latin typeface="Calibri"/>
              </a:defRPr>
            </a:pPr>
            <a:r>
              <a:t>with the Cajun Actor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00400"/>
            <a:ext cx="8229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B0BCD0"/>
                </a:solidFill>
                <a:latin typeface="Calibri"/>
              </a:defRPr>
            </a:pPr>
            <a:r>
              <a:t>Why Actors Eliminate the Concurrency Nightmares of Traditional Spring Services</a:t>
            </a:r>
          </a:p>
        </p:txBody>
      </p:sp>
      <p:sp>
        <p:nvSpPr>
          <p:cNvPr id="6" name="Oval 5"/>
          <p:cNvSpPr/>
          <p:nvPr/>
        </p:nvSpPr>
        <p:spPr>
          <a:xfrm>
            <a:off x="9601200" y="914400"/>
            <a:ext cx="2286000" cy="228600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829800" y="1143000"/>
            <a:ext cx="1828800" cy="1828800"/>
          </a:xfrm>
          <a:prstGeom prst="ellipse">
            <a:avLst/>
          </a:prstGeom>
          <a:solidFill>
            <a:srgbClr val="12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058400" y="1371600"/>
            <a:ext cx="1371600" cy="1371600"/>
          </a:xfrm>
          <a:prstGeom prst="ellipse">
            <a:avLst/>
          </a:prstGeom>
          <a:solidFill>
            <a:srgbClr val="1B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B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63550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B93"/>
                </a:solidFill>
                <a:latin typeface="Calibri"/>
              </a:defRPr>
            </a:pPr>
            <a:r>
              <a:t>Cajun Framework  |  Actor Model  |  Java 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D4AA"/>
                </a:solidFill>
                <a:latin typeface="Calibri"/>
              </a:defRPr>
            </a:pPr>
            <a: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Call Center Concurrency is Hard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B0BCD0"/>
                </a:solidFill>
                <a:latin typeface="Calibri"/>
              </a:defRPr>
            </a:pPr>
            <a:r>
              <a:t>A call center must handle hundreds of simultaneous calls, route them to available agents, manage agent state transitions, and ensure no call is dropped or double-assigned.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554480"/>
            <a:ext cx="4846320" cy="1188720"/>
          </a:xfrm>
          <a:prstGeom prst="roundRect">
            <a:avLst/>
          </a:prstGeom>
          <a:solidFill>
            <a:srgbClr val="1B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0" y="1554480"/>
            <a:ext cx="54864" cy="1188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0" y="169164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Routing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057400"/>
            <a:ext cx="4389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CD0"/>
                </a:solidFill>
                <a:latin typeface="Calibri"/>
              </a:defRPr>
            </a:pPr>
            <a:r>
              <a:t>Match calls to agents</a:t>
            </a:r>
            <a:br/>
            <a:r>
              <a:t>without race conditions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2926080"/>
            <a:ext cx="4846320" cy="1188720"/>
          </a:xfrm>
          <a:prstGeom prst="roundRect">
            <a:avLst/>
          </a:prstGeom>
          <a:solidFill>
            <a:srgbClr val="1B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583680" y="2926080"/>
            <a:ext cx="54864" cy="1188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0" y="306324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State Mgmt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429000"/>
            <a:ext cx="4389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CD0"/>
                </a:solidFill>
                <a:latin typeface="Calibri"/>
              </a:defRPr>
            </a:pPr>
            <a:r>
              <a:t>Track agent status</a:t>
            </a:r>
            <a:br/>
            <a:r>
              <a:t>across concurrent events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4297680"/>
            <a:ext cx="4846320" cy="1188720"/>
          </a:xfrm>
          <a:prstGeom prst="roundRect">
            <a:avLst/>
          </a:prstGeom>
          <a:solidFill>
            <a:srgbClr val="1B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583680" y="4297680"/>
            <a:ext cx="54864" cy="1188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0" y="443484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Scalability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4800600"/>
            <a:ext cx="4389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CD0"/>
                </a:solidFill>
                <a:latin typeface="Calibri"/>
              </a:defRPr>
            </a:pPr>
            <a:r>
              <a:t>Handle call spikes without</a:t>
            </a:r>
            <a:br/>
            <a:r>
              <a:t>thread pool exhaustion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683829"/>
            <a:ext cx="1828800" cy="731520"/>
          </a:xfrm>
          <a:prstGeom prst="roundRect">
            <a:avLst/>
          </a:prstGeom>
          <a:solidFill>
            <a:srgbClr val="1B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5820989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64B5F6"/>
                </a:solidFill>
                <a:latin typeface="Calibri"/>
              </a:defRPr>
            </a:pPr>
            <a:r>
              <a:t>Incoming Call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78608" y="5775269"/>
            <a:ext cx="274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D4AA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34640" y="5683829"/>
            <a:ext cx="1828800" cy="731520"/>
          </a:xfrm>
          <a:prstGeom prst="roundRect">
            <a:avLst/>
          </a:prstGeom>
          <a:solidFill>
            <a:srgbClr val="1B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834640" y="5820989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64B5F6"/>
                </a:solidFill>
                <a:latin typeface="Calibri"/>
              </a:defRPr>
            </a:pPr>
            <a:r>
              <a:t>Queue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81728" y="5775269"/>
            <a:ext cx="274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D4AA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37760" y="5683829"/>
            <a:ext cx="1828800" cy="731520"/>
          </a:xfrm>
          <a:prstGeom prst="roundRect">
            <a:avLst/>
          </a:prstGeom>
          <a:solidFill>
            <a:srgbClr val="1B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937760" y="5820989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64B5F6"/>
                </a:solidFill>
                <a:latin typeface="Calibri"/>
              </a:defRPr>
            </a:pPr>
            <a:r>
              <a:t>Route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84848" y="5775269"/>
            <a:ext cx="274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D4AA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40880" y="5683829"/>
            <a:ext cx="1828800" cy="731520"/>
          </a:xfrm>
          <a:prstGeom prst="roundRect">
            <a:avLst/>
          </a:prstGeom>
          <a:solidFill>
            <a:srgbClr val="1B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040880" y="5820989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64B5F6"/>
                </a:solidFill>
                <a:latin typeface="Calibri"/>
              </a:defRPr>
            </a:pPr>
            <a:r>
              <a:t>Agent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87968" y="5775269"/>
            <a:ext cx="2743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D4AA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0" y="5683829"/>
            <a:ext cx="1828800" cy="731520"/>
          </a:xfrm>
          <a:prstGeom prst="roundRect">
            <a:avLst/>
          </a:prstGeom>
          <a:solidFill>
            <a:srgbClr val="1B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0" y="5820989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64B5F6"/>
                </a:solidFill>
                <a:latin typeface="Calibri"/>
              </a:defRPr>
            </a:pPr>
            <a:r>
              <a:t>Wrap-Up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6B6B"/>
                </a:solidFill>
                <a:latin typeface="Calibri"/>
              </a:defRPr>
            </a:pPr>
            <a:r>
              <a:t>Traditional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Spring Boot + JPA: Where It Breaks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3108960"/>
          </a:xfrm>
          <a:prstGeom prst="roundRect">
            <a:avLst/>
          </a:prstGeom>
          <a:solidFill>
            <a:srgbClr val="1B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60120" y="2057400"/>
            <a:ext cx="457200" cy="4572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08483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Thundering Herd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743200"/>
            <a:ext cx="283464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CD0"/>
                </a:solidFill>
                <a:latin typeface="Calibri"/>
              </a:defRPr>
            </a:pPr>
            <a:r>
              <a:t>50 agents AVAILABLE, 1 call arrives. 50 DB connections execute SELECT FOR UPDATE simultaneously. 49 fail with lock contention.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4389120"/>
            <a:ext cx="1828800" cy="320040"/>
          </a:xfrm>
          <a:prstGeom prst="roundRect">
            <a:avLst/>
          </a:prstGeom>
          <a:solidFill>
            <a:srgbClr val="2A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438912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6B6B"/>
                </a:solidFill>
                <a:latin typeface="Calibri"/>
              </a:defRPr>
            </a:pPr>
            <a:r>
              <a:t>50 threads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828800"/>
            <a:ext cx="3291840" cy="3108960"/>
          </a:xfrm>
          <a:prstGeom prst="roundRect">
            <a:avLst/>
          </a:prstGeom>
          <a:solidFill>
            <a:srgbClr val="1B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617720" y="2057400"/>
            <a:ext cx="457200" cy="4572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17720" y="205740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208483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Distributed Locks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743200"/>
            <a:ext cx="283464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CD0"/>
                </a:solidFill>
                <a:latin typeface="Calibri"/>
              </a:defRPr>
            </a:pPr>
            <a:r>
              <a:t>Routing requires locking Call + Agent rows simultaneously. Without Redis/ZooKeeper, deadlocks are rampant.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17720" y="4389120"/>
            <a:ext cx="1828800" cy="320040"/>
          </a:xfrm>
          <a:prstGeom prst="roundRect">
            <a:avLst/>
          </a:prstGeom>
          <a:solidFill>
            <a:srgbClr val="2A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17720" y="438912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6B6B"/>
                </a:solidFill>
                <a:latin typeface="Calibri"/>
              </a:defRPr>
            </a:pPr>
            <a:r>
              <a:t>Deadlocks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1828800"/>
            <a:ext cx="3291840" cy="3108960"/>
          </a:xfrm>
          <a:prstGeom prst="roundRect">
            <a:avLst/>
          </a:prstGeom>
          <a:solidFill>
            <a:srgbClr val="1B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275320" y="2057400"/>
            <a:ext cx="457200" cy="4572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75320" y="205740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084832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Lost Updates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743200"/>
            <a:ext cx="283464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CD0"/>
                </a:solidFill>
                <a:latin typeface="Calibri"/>
              </a:defRPr>
            </a:pPr>
            <a:r>
              <a:t>Two webhooks at the same millisecond. Optimistic locking crashes one with OptimisticLockException. Manual retries required.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75320" y="4389120"/>
            <a:ext cx="1828800" cy="320040"/>
          </a:xfrm>
          <a:prstGeom prst="roundRect">
            <a:avLst/>
          </a:prstGeom>
          <a:solidFill>
            <a:srgbClr val="2A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75320" y="438912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6B6B"/>
                </a:solidFill>
                <a:latin typeface="Calibri"/>
              </a:defRPr>
            </a:pPr>
            <a:r>
              <a:t>Race conditions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6B6B"/>
                </a:solidFill>
                <a:latin typeface="Calibri"/>
              </a:defRPr>
            </a:pPr>
            <a:r>
              <a:t>Spring Boot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What Typical Routing Looks Like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303520" cy="4114800"/>
          </a:xfrm>
          <a:prstGeom prst="roundRect">
            <a:avLst/>
          </a:prstGeom>
          <a:solidFill>
            <a:srgbClr val="0D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7452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D4AA"/>
                </a:solidFill>
                <a:latin typeface="Consolas"/>
              </a:defRPr>
            </a:pPr>
            <a:r>
              <a:t>@Transactional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D4AA"/>
                </a:solidFill>
                <a:latin typeface="Consolas"/>
              </a:defRPr>
            </a:pPr>
            <a:r>
              <a:t>public void routeCall(Long callId) {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D4AA"/>
                </a:solidFill>
                <a:latin typeface="Consolas"/>
              </a:defRPr>
            </a:pPr>
            <a:r>
              <a:t>    // Lock the call row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D4AA"/>
                </a:solidFill>
                <a:latin typeface="Consolas"/>
              </a:defRPr>
            </a:pPr>
            <a:r>
              <a:t>    Call call = callRepo.findByIdForUpdate(callId);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D4AA"/>
                </a:solidFill>
                <a:latin typeface="Consolas"/>
              </a:defRPr>
            </a:pPr>
            <a:endParaRPr/>
          </a:p>
          <a:p>
            <a:pPr algn="l"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D4AA"/>
                </a:solidFill>
                <a:latin typeface="Consolas"/>
              </a:defRPr>
            </a:pPr>
            <a:r>
              <a:t>    // Find an available agent - RACE CONDITION!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D4AA"/>
                </a:solidFill>
                <a:latin typeface="Consolas"/>
              </a:defRPr>
            </a:pPr>
            <a:r>
              <a:t>    Agent agent = agentRepo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D4AA"/>
                </a:solidFill>
                <a:latin typeface="Consolas"/>
              </a:defRPr>
            </a:pPr>
            <a:r>
              <a:t>        .findFirstByStatus("AVAILABLE");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D4AA"/>
                </a:solidFill>
                <a:latin typeface="Consolas"/>
              </a:defRPr>
            </a:pPr>
            <a:endParaRPr/>
          </a:p>
          <a:p>
            <a:pPr algn="l"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D4AA"/>
                </a:solidFill>
                <a:latin typeface="Consolas"/>
              </a:defRPr>
            </a:pPr>
            <a:r>
              <a:t>    // Another thread might grab same agent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D4AA"/>
                </a:solidFill>
                <a:latin typeface="Consolas"/>
              </a:defRPr>
            </a:pPr>
            <a:r>
              <a:t>    agent.setStatus("BUSY");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D4AA"/>
                </a:solidFill>
                <a:latin typeface="Consolas"/>
              </a:defRPr>
            </a:pPr>
            <a:r>
              <a:t>    call.setAgentId(agent.getId());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D4AA"/>
                </a:solidFill>
                <a:latin typeface="Consolas"/>
              </a:defRPr>
            </a:pPr>
            <a:endParaRPr/>
          </a:p>
          <a:p>
            <a:pPr algn="l"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D4AA"/>
                </a:solidFill>
                <a:latin typeface="Consolas"/>
              </a:defRPr>
            </a:pPr>
            <a:r>
              <a:t>    agentRepo.save(agent);  // OptimisticLockException?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D4AA"/>
                </a:solidFill>
                <a:latin typeface="Consolas"/>
              </a:defRPr>
            </a:pPr>
            <a:r>
              <a:t>    callRepo.save(call);    // Deadlock risk!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D4AA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737360"/>
            <a:ext cx="4937760" cy="914400"/>
          </a:xfrm>
          <a:prstGeom prst="roundRect">
            <a:avLst/>
          </a:prstGeom>
          <a:solidFill>
            <a:srgbClr val="1B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0" y="1737360"/>
            <a:ext cx="54864" cy="9144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12280" y="1828800"/>
            <a:ext cx="4114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6B6B"/>
                </a:solidFill>
                <a:latin typeface="Calibri"/>
              </a:defRPr>
            </a:pPr>
            <a:r>
              <a:t>SELECT FOR UPDATE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2148840"/>
            <a:ext cx="4114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CD0"/>
                </a:solidFill>
                <a:latin typeface="Calibri"/>
              </a:defRPr>
            </a:pPr>
            <a:r>
              <a:t>Requires DB-level locking.</a:t>
            </a:r>
            <a:br/>
            <a:r>
              <a:t>Blocks other transactions.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2788920"/>
            <a:ext cx="4937760" cy="914400"/>
          </a:xfrm>
          <a:prstGeom prst="roundRect">
            <a:avLst/>
          </a:prstGeom>
          <a:solidFill>
            <a:srgbClr val="1B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583680" y="2788920"/>
            <a:ext cx="54864" cy="9144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12280" y="2880360"/>
            <a:ext cx="4114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6B6B"/>
                </a:solidFill>
                <a:latin typeface="Calibri"/>
              </a:defRPr>
            </a:pPr>
            <a:r>
              <a:t>Race Condition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3200400"/>
            <a:ext cx="4114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CD0"/>
                </a:solidFill>
                <a:latin typeface="Calibri"/>
              </a:defRPr>
            </a:pPr>
            <a:r>
              <a:t>Two threads find the same</a:t>
            </a:r>
            <a:br/>
            <a:r>
              <a:t>'AVAILABLE' agent simultaneously.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3840480"/>
            <a:ext cx="4937760" cy="914400"/>
          </a:xfrm>
          <a:prstGeom prst="roundRect">
            <a:avLst/>
          </a:prstGeom>
          <a:solidFill>
            <a:srgbClr val="1B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583680" y="3840480"/>
            <a:ext cx="54864" cy="9144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12280" y="3931920"/>
            <a:ext cx="4114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6B6B"/>
                </a:solidFill>
                <a:latin typeface="Calibri"/>
              </a:defRPr>
            </a:pPr>
            <a:r>
              <a:t>OptimisticLockException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4251960"/>
            <a:ext cx="4114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CD0"/>
                </a:solidFill>
                <a:latin typeface="Calibri"/>
              </a:defRPr>
            </a:pPr>
            <a:r>
              <a:t>One save wins, the other crashes.</a:t>
            </a:r>
            <a:br/>
            <a:r>
              <a:t>Manual retry logic needed.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4892040"/>
            <a:ext cx="4937760" cy="914400"/>
          </a:xfrm>
          <a:prstGeom prst="roundRect">
            <a:avLst/>
          </a:prstGeom>
          <a:solidFill>
            <a:srgbClr val="1B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583680" y="4892040"/>
            <a:ext cx="54864" cy="914400"/>
          </a:xfrm>
          <a:prstGeom prst="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12280" y="4983480"/>
            <a:ext cx="4114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A726"/>
                </a:solidFill>
                <a:latin typeface="Calibri"/>
              </a:defRPr>
            </a:pPr>
            <a:r>
              <a:t>Thread Blocking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5303520"/>
            <a:ext cx="4114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CD0"/>
                </a:solidFill>
                <a:latin typeface="Calibri"/>
              </a:defRPr>
            </a:pPr>
            <a:r>
              <a:t>Each request holds a thread.</a:t>
            </a:r>
            <a:br/>
            <a:r>
              <a:t>1000 calls = 1000 threads.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D4AA"/>
                </a:solidFill>
                <a:latin typeface="Calibri"/>
              </a:defRPr>
            </a:pPr>
            <a:r>
              <a:t>The Actor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Enter Cajun: Actors for the JVM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029200" cy="1828800"/>
          </a:xfrm>
          <a:prstGeom prst="roundRect">
            <a:avLst/>
          </a:prstGeom>
          <a:solidFill>
            <a:srgbClr val="1B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54864" cy="1828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05840" y="2011680"/>
            <a:ext cx="502920" cy="502920"/>
          </a:xfrm>
          <a:prstGeom prst="ellipse">
            <a:avLst/>
          </a:prstGeom>
          <a:solidFill>
            <a:srgbClr val="003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057400"/>
            <a:ext cx="5029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D4AA"/>
                </a:solidFill>
                <a:latin typeface="Consolas"/>
              </a:defRPr>
            </a:pPr>
            <a:r>
              <a:t>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01168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Mailbox Isolation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468880"/>
            <a:ext cx="36576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0BCD0"/>
                </a:solidFill>
                <a:latin typeface="Calibri"/>
              </a:defRPr>
            </a:pPr>
            <a:r>
              <a:t>Each actor has a private mailbox.</a:t>
            </a:r>
            <a:br/>
            <a:r>
              <a:t>Messages are processed one-at-a-time,</a:t>
            </a:r>
            <a:br/>
            <a:r>
              <a:t>sequentially. No shared state.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737360"/>
            <a:ext cx="5029200" cy="1828800"/>
          </a:xfrm>
          <a:prstGeom prst="roundRect">
            <a:avLst/>
          </a:prstGeom>
          <a:solidFill>
            <a:srgbClr val="1B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737360"/>
            <a:ext cx="54864" cy="1828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92240" y="2011680"/>
            <a:ext cx="502920" cy="502920"/>
          </a:xfrm>
          <a:prstGeom prst="ellipse">
            <a:avLst/>
          </a:prstGeom>
          <a:solidFill>
            <a:srgbClr val="003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2057400"/>
            <a:ext cx="5029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D4AA"/>
                </a:solidFill>
                <a:latin typeface="Consolas"/>
              </a:defRPr>
            </a:pPr>
            <a:r>
              <a:t>&gt;&gt;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01168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Message Passing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2468880"/>
            <a:ext cx="36576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0BCD0"/>
                </a:solidFill>
                <a:latin typeface="Calibri"/>
              </a:defRPr>
            </a:pPr>
            <a:r>
              <a:t>Actors communicate only via</a:t>
            </a:r>
            <a:br/>
            <a:r>
              <a:t>immutable messages. No direct</a:t>
            </a:r>
            <a:br/>
            <a:r>
              <a:t>method calls. No shared memory.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931920"/>
            <a:ext cx="5029200" cy="1828800"/>
          </a:xfrm>
          <a:prstGeom prst="roundRect">
            <a:avLst/>
          </a:prstGeom>
          <a:solidFill>
            <a:srgbClr val="1B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" y="3931920"/>
            <a:ext cx="54864" cy="1828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05840" y="4206240"/>
            <a:ext cx="502920" cy="502920"/>
          </a:xfrm>
          <a:prstGeom prst="ellipse">
            <a:avLst/>
          </a:prstGeom>
          <a:solidFill>
            <a:srgbClr val="003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" y="4251960"/>
            <a:ext cx="5029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D4AA"/>
                </a:solidFill>
                <a:latin typeface="Consolas"/>
              </a:defRPr>
            </a:pPr>
            <a:r>
              <a:t>{}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20624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In-Memory State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4663440"/>
            <a:ext cx="36576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0BCD0"/>
                </a:solidFill>
                <a:latin typeface="Calibri"/>
              </a:defRPr>
            </a:pPr>
            <a:r>
              <a:t>State lives inside the actor.</a:t>
            </a:r>
            <a:br/>
            <a:r>
              <a:t>No database for routing logic.</a:t>
            </a:r>
            <a:br/>
            <a:r>
              <a:t>Microsecond response times.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931920"/>
            <a:ext cx="5029200" cy="1828800"/>
          </a:xfrm>
          <a:prstGeom prst="roundRect">
            <a:avLst/>
          </a:prstGeom>
          <a:solidFill>
            <a:srgbClr val="1B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17920" y="3931920"/>
            <a:ext cx="54864" cy="1828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492240" y="4206240"/>
            <a:ext cx="502920" cy="502920"/>
          </a:xfrm>
          <a:prstGeom prst="ellipse">
            <a:avLst/>
          </a:prstGeom>
          <a:solidFill>
            <a:srgbClr val="003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92240" y="4251960"/>
            <a:ext cx="5029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D4AA"/>
                </a:solidFill>
                <a:latin typeface="Consolas"/>
              </a:defRPr>
            </a:pPr>
            <a:r>
              <a:t>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420624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Non-Blocking Delays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4663440"/>
            <a:ext cx="36576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0BCD0"/>
                </a:solidFill>
                <a:latin typeface="Calibri"/>
              </a:defRPr>
            </a:pPr>
            <a:r>
              <a:t>tellSelf(msg, delay) schedules</a:t>
            </a:r>
            <a:br/>
            <a:r>
              <a:t>future messages without blocking</a:t>
            </a:r>
            <a:br/>
            <a:r>
              <a:t>any JVM thread.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D4AA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Three Actors, One Call Center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291840" cy="4114800"/>
          </a:xfrm>
          <a:prstGeom prst="roundRect">
            <a:avLst/>
          </a:prstGeom>
          <a:solidFill>
            <a:srgbClr val="1B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3291840" cy="73152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2011680" y="2057400"/>
            <a:ext cx="640080" cy="640080"/>
          </a:xfrm>
          <a:prstGeom prst="ellipse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11680" y="2121408"/>
            <a:ext cx="6400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2162B"/>
                </a:solidFill>
                <a:latin typeface="Consolas"/>
              </a:defRPr>
            </a:pPr>
            <a:r>
              <a:t>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64B5F6"/>
                </a:solidFill>
                <a:latin typeface="Consolas"/>
              </a:defRPr>
            </a:pPr>
            <a:r>
              <a:t>WorkItemHandler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The Call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57600"/>
            <a:ext cx="274320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CD0"/>
                </a:solidFill>
                <a:latin typeface="Calibri"/>
              </a:defRPr>
            </a:pPr>
            <a:r>
              <a:t>Represents the lifecycle of an</a:t>
            </a:r>
            <a:br/>
            <a:r>
              <a:t>incoming interaction.</a:t>
            </a:r>
            <a:br/>
            <a:br/>
            <a:r>
              <a:t>States: NEW &gt; WAITING &gt;</a:t>
            </a:r>
            <a:br/>
            <a:r>
              <a:t>CONNECTED &gt; ENDED</a:t>
            </a:r>
            <a:br/>
            <a:br/>
            <a:r>
              <a:t>Self-terminates when call ends.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737360"/>
            <a:ext cx="3291840" cy="4114800"/>
          </a:xfrm>
          <a:prstGeom prst="roundRect">
            <a:avLst/>
          </a:prstGeom>
          <a:solidFill>
            <a:srgbClr val="1B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1737360"/>
            <a:ext cx="3291840" cy="7315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669280" y="2057400"/>
            <a:ext cx="640080" cy="64008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0" y="2121408"/>
            <a:ext cx="6400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2162B"/>
                </a:solidFill>
                <a:latin typeface="Consolas"/>
              </a:defRPr>
            </a:pPr>
            <a:r>
              <a:t>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834640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D4AA"/>
                </a:solidFill>
                <a:latin typeface="Consolas"/>
              </a:defRPr>
            </a:pPr>
            <a:r>
              <a:t>QueueHandler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20040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The Matchmaker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657600"/>
            <a:ext cx="274320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CD0"/>
                </a:solidFill>
                <a:latin typeface="Calibri"/>
              </a:defRPr>
            </a:pPr>
            <a:r>
              <a:t>Maintains lists of waiting calls</a:t>
            </a:r>
            <a:br/>
            <a:r>
              <a:t>and available agents.</a:t>
            </a:r>
            <a:br/>
            <a:br/>
            <a:r>
              <a:t>Processes ONE message at a time.</a:t>
            </a:r>
            <a:br/>
            <a:r>
              <a:t>Matches calls to agents instantly.</a:t>
            </a:r>
            <a:br/>
            <a:br/>
            <a:r>
              <a:t>Zero locks. Zero race conditions.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1737360"/>
            <a:ext cx="3291840" cy="4114800"/>
          </a:xfrm>
          <a:prstGeom prst="roundRect">
            <a:avLst/>
          </a:prstGeom>
          <a:solidFill>
            <a:srgbClr val="1B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46720" y="1737360"/>
            <a:ext cx="3291840" cy="73152"/>
          </a:xfrm>
          <a:prstGeom prst="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326880" y="2057400"/>
            <a:ext cx="640080" cy="640080"/>
          </a:xfrm>
          <a:prstGeom prst="ellipse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26880" y="2121408"/>
            <a:ext cx="6400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2162B"/>
                </a:solidFill>
                <a:latin typeface="Consolas"/>
              </a:defRPr>
            </a:pPr>
            <a:r>
              <a:t>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834640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A726"/>
                </a:solidFill>
                <a:latin typeface="Consolas"/>
              </a:defRPr>
            </a:pPr>
            <a:r>
              <a:t>AgentHandler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320040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The Worker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657600"/>
            <a:ext cx="274320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CD0"/>
                </a:solidFill>
                <a:latin typeface="Calibri"/>
              </a:defRPr>
            </a:pPr>
            <a:r>
              <a:t>Represents a human or AI agent.</a:t>
            </a:r>
            <a:br/>
            <a:br/>
            <a:r>
              <a:t>States: AVAILABLE &gt; BUSY &gt;</a:t>
            </a:r>
            <a:br/>
            <a:r>
              <a:t>WRAP_UP &gt; AVAILABLE</a:t>
            </a:r>
            <a:br/>
            <a:br/>
            <a:r>
              <a:t>Uses delayed self-messages</a:t>
            </a:r>
            <a:br/>
            <a:r>
              <a:t>for state transitions.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D4AA"/>
                </a:solidFill>
                <a:latin typeface="Calibri"/>
              </a:defRPr>
            </a:pPr>
            <a:r>
              <a:t>Message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Happy Path: How a Call Gets Routed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029200" cy="777240"/>
          </a:xfrm>
          <a:prstGeom prst="roundRect">
            <a:avLst/>
          </a:prstGeom>
          <a:solidFill>
            <a:srgbClr val="1B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68680" y="1847088"/>
            <a:ext cx="457200" cy="457200"/>
          </a:xfrm>
          <a:prstGeom prst="ellipse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874520"/>
            <a:ext cx="457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162B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82880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Call Arrives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148840"/>
            <a:ext cx="3840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CD0"/>
                </a:solidFill>
                <a:latin typeface="Calibri"/>
              </a:defRPr>
            </a:pPr>
            <a:r>
              <a:t>WorkItem spawned, sends Enqueue to Queue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69848" y="2514600"/>
            <a:ext cx="36576" cy="137160"/>
          </a:xfrm>
          <a:prstGeom prst="rect">
            <a:avLst/>
          </a:prstGeom>
          <a:solidFill>
            <a:srgbClr val="6B7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31520" y="2651760"/>
            <a:ext cx="5029200" cy="777240"/>
          </a:xfrm>
          <a:prstGeom prst="roundRect">
            <a:avLst/>
          </a:prstGeom>
          <a:solidFill>
            <a:srgbClr val="1B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68680" y="2761488"/>
            <a:ext cx="457200" cy="45720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2788920"/>
            <a:ext cx="457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162B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74320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Queue Matches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063240"/>
            <a:ext cx="3840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CD0"/>
                </a:solidFill>
                <a:latin typeface="Calibri"/>
              </a:defRPr>
            </a:pPr>
            <a:r>
              <a:t>Queue pops available agent, sends AssignCall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69848" y="3429000"/>
            <a:ext cx="36576" cy="137160"/>
          </a:xfrm>
          <a:prstGeom prst="rect">
            <a:avLst/>
          </a:prstGeom>
          <a:solidFill>
            <a:srgbClr val="6B7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31520" y="3566160"/>
            <a:ext cx="5029200" cy="777240"/>
          </a:xfrm>
          <a:prstGeom prst="roundRect">
            <a:avLst/>
          </a:prstGeom>
          <a:solidFill>
            <a:srgbClr val="1B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68680" y="3675888"/>
            <a:ext cx="457200" cy="457200"/>
          </a:xfrm>
          <a:prstGeom prst="ellipse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3703320"/>
            <a:ext cx="457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162B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65760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Agent Picks 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3977640"/>
            <a:ext cx="3840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CD0"/>
                </a:solidFill>
                <a:latin typeface="Calibri"/>
              </a:defRPr>
            </a:pPr>
            <a:r>
              <a:t>Agent transitions to BUSY, handles call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69848" y="4343400"/>
            <a:ext cx="36576" cy="137160"/>
          </a:xfrm>
          <a:prstGeom prst="rect">
            <a:avLst/>
          </a:prstGeom>
          <a:solidFill>
            <a:srgbClr val="6B7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31520" y="4480560"/>
            <a:ext cx="5029200" cy="777240"/>
          </a:xfrm>
          <a:prstGeom prst="roundRect">
            <a:avLst/>
          </a:prstGeom>
          <a:solidFill>
            <a:srgbClr val="1B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68680" y="4590288"/>
            <a:ext cx="457200" cy="4572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" y="4617720"/>
            <a:ext cx="457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162B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457200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Call Ends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4892040"/>
            <a:ext cx="3840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CD0"/>
                </a:solidFill>
                <a:latin typeface="Calibri"/>
              </a:defRPr>
            </a:pPr>
            <a:r>
              <a:t>Agent enters WRAP_UP, delayed self-message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69848" y="5257800"/>
            <a:ext cx="36576" cy="137160"/>
          </a:xfrm>
          <a:prstGeom prst="rect">
            <a:avLst/>
          </a:prstGeom>
          <a:solidFill>
            <a:srgbClr val="6B7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731520" y="5394960"/>
            <a:ext cx="5029200" cy="777240"/>
          </a:xfrm>
          <a:prstGeom prst="roundRect">
            <a:avLst/>
          </a:prstGeom>
          <a:solidFill>
            <a:srgbClr val="1B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68680" y="5504688"/>
            <a:ext cx="457200" cy="45720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8680" y="5532120"/>
            <a:ext cx="457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162B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08760" y="548640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Agent Available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8760" y="5806440"/>
            <a:ext cx="3840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CD0"/>
                </a:solidFill>
                <a:latin typeface="Calibri"/>
              </a:defRPr>
            </a:pPr>
            <a:r>
              <a:t>Agent sends AgentAvailable back to Queue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52160" y="192024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B7B93"/>
                </a:solidFill>
                <a:latin typeface="Consolas"/>
              </a:defRPr>
            </a:pPr>
            <a:r>
              <a:t>--&gt;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1828800"/>
            <a:ext cx="2286000" cy="548640"/>
          </a:xfrm>
          <a:prstGeom prst="roundRect">
            <a:avLst/>
          </a:prstGeom>
          <a:solidFill>
            <a:srgbClr val="0D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00800" y="1828800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64B5F6"/>
                </a:solidFill>
                <a:latin typeface="Consolas"/>
              </a:defRPr>
            </a:pPr>
            <a:r>
              <a:t>WorkItem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52160" y="283464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B7B93"/>
                </a:solidFill>
                <a:latin typeface="Consolas"/>
              </a:defRPr>
            </a:pPr>
            <a:r>
              <a:t>--&gt;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2743200"/>
            <a:ext cx="2286000" cy="548640"/>
          </a:xfrm>
          <a:prstGeom prst="roundRect">
            <a:avLst/>
          </a:prstGeom>
          <a:solidFill>
            <a:srgbClr val="0D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00800" y="2743200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D4AA"/>
                </a:solidFill>
                <a:latin typeface="Consolas"/>
              </a:defRPr>
            </a:pPr>
            <a:r>
              <a:t>Queue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52160" y="374904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B7B93"/>
                </a:solidFill>
                <a:latin typeface="Consolas"/>
              </a:defRPr>
            </a:pPr>
            <a:r>
              <a:t>--&gt;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0" y="3657600"/>
            <a:ext cx="2286000" cy="548640"/>
          </a:xfrm>
          <a:prstGeom prst="roundRect">
            <a:avLst/>
          </a:prstGeom>
          <a:solidFill>
            <a:srgbClr val="0D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00800" y="3657600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A726"/>
                </a:solidFill>
                <a:latin typeface="Consolas"/>
              </a:defRPr>
            </a:pPr>
            <a:r>
              <a:t>Agent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52160" y="466344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B7B93"/>
                </a:solidFill>
                <a:latin typeface="Consolas"/>
              </a:defRPr>
            </a:pPr>
            <a:r>
              <a:t>--&gt;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0" y="4572000"/>
            <a:ext cx="2286000" cy="548640"/>
          </a:xfrm>
          <a:prstGeom prst="roundRect">
            <a:avLst/>
          </a:prstGeom>
          <a:solidFill>
            <a:srgbClr val="0D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00800" y="4572000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A726"/>
                </a:solidFill>
                <a:latin typeface="Consolas"/>
              </a:defRPr>
            </a:pPr>
            <a:r>
              <a:t>Agent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52160" y="557784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B7B93"/>
                </a:solidFill>
                <a:latin typeface="Consolas"/>
              </a:defRPr>
            </a:pPr>
            <a:r>
              <a:t>--&gt;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00800" y="5486400"/>
            <a:ext cx="2286000" cy="548640"/>
          </a:xfrm>
          <a:prstGeom prst="roundRect">
            <a:avLst/>
          </a:prstGeom>
          <a:solidFill>
            <a:srgbClr val="0D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400800" y="5486400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D4AA"/>
                </a:solidFill>
                <a:latin typeface="Consolas"/>
              </a:defRPr>
            </a:pPr>
            <a:r>
              <a:t>Queue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D4AA"/>
                </a:solidFill>
                <a:latin typeface="Calibri"/>
              </a:defRPr>
            </a:pPr>
            <a:r>
              <a:t>Core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QueueHandler: Zero-Lock Routing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6217920" cy="4754880"/>
          </a:xfrm>
          <a:prstGeom prst="roundRect">
            <a:avLst/>
          </a:prstGeom>
          <a:solidFill>
            <a:srgbClr val="0D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5852160" cy="48269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D4AA"/>
                </a:solidFill>
                <a:latin typeface="Consolas"/>
              </a:defRPr>
            </a:pPr>
            <a:r>
              <a:rPr sz="900" dirty="0"/>
              <a:t>public </a:t>
            </a:r>
            <a:r>
              <a:rPr sz="900" dirty="0" err="1"/>
              <a:t>QueueState</a:t>
            </a:r>
            <a:r>
              <a:rPr sz="900" dirty="0"/>
              <a:t> receive(</a:t>
            </a:r>
            <a:r>
              <a:rPr sz="900" dirty="0" err="1"/>
              <a:t>QueueMessage</a:t>
            </a:r>
            <a:r>
              <a:rPr sz="900" dirty="0"/>
              <a:t> msg,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D4AA"/>
                </a:solidFill>
                <a:latin typeface="Consolas"/>
              </a:defRPr>
            </a:pPr>
            <a:r>
              <a:rPr sz="900" dirty="0"/>
              <a:t>                         </a:t>
            </a:r>
            <a:r>
              <a:rPr sz="900" dirty="0" err="1"/>
              <a:t>QueueState</a:t>
            </a:r>
            <a:r>
              <a:rPr sz="900" dirty="0"/>
              <a:t> state,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D4AA"/>
                </a:solidFill>
                <a:latin typeface="Consolas"/>
              </a:defRPr>
            </a:pPr>
            <a:r>
              <a:rPr sz="900" dirty="0"/>
              <a:t>                         </a:t>
            </a:r>
            <a:r>
              <a:rPr sz="900" dirty="0" err="1"/>
              <a:t>ActorContext</a:t>
            </a:r>
            <a:r>
              <a:rPr sz="900" dirty="0"/>
              <a:t> context) {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D4AA"/>
                </a:solidFill>
                <a:latin typeface="Consolas"/>
              </a:defRPr>
            </a:pPr>
            <a:r>
              <a:rPr sz="900" dirty="0"/>
              <a:t>  switch (msg) {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D4AA"/>
                </a:solidFill>
                <a:latin typeface="Consolas"/>
              </a:defRPr>
            </a:pPr>
            <a:r>
              <a:rPr sz="900" dirty="0"/>
              <a:t>    case Enqueue enc -&gt; {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D4AA"/>
                </a:solidFill>
                <a:latin typeface="Consolas"/>
              </a:defRPr>
            </a:pPr>
            <a:r>
              <a:rPr sz="900" dirty="0"/>
              <a:t>      </a:t>
            </a:r>
            <a:r>
              <a:rPr sz="900" dirty="0" err="1"/>
              <a:t>state.addCall</a:t>
            </a:r>
            <a:r>
              <a:rPr sz="900" dirty="0"/>
              <a:t>(</a:t>
            </a:r>
            <a:r>
              <a:rPr sz="900" dirty="0" err="1"/>
              <a:t>enc.workItemId</a:t>
            </a:r>
            <a:r>
              <a:rPr sz="900" dirty="0"/>
              <a:t>(), </a:t>
            </a:r>
            <a:r>
              <a:rPr sz="900" dirty="0" err="1"/>
              <a:t>enc.callerId</a:t>
            </a:r>
            <a:r>
              <a:rPr sz="900" dirty="0"/>
              <a:t>());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D4AA"/>
                </a:solidFill>
                <a:latin typeface="Consolas"/>
              </a:defRPr>
            </a:pPr>
            <a:r>
              <a:rPr sz="900" dirty="0"/>
              <a:t>      </a:t>
            </a:r>
            <a:r>
              <a:rPr sz="900" dirty="0" err="1"/>
              <a:t>tryMatch</a:t>
            </a:r>
            <a:r>
              <a:rPr sz="900" dirty="0"/>
              <a:t>(state, context);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D4AA"/>
                </a:solidFill>
                <a:latin typeface="Consolas"/>
              </a:defRPr>
            </a:pPr>
            <a:r>
              <a:rPr sz="900" dirty="0"/>
              <a:t>    }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D4AA"/>
                </a:solidFill>
                <a:latin typeface="Consolas"/>
              </a:defRPr>
            </a:pPr>
            <a:r>
              <a:rPr sz="900" dirty="0"/>
              <a:t>    case </a:t>
            </a:r>
            <a:r>
              <a:rPr sz="900" dirty="0" err="1"/>
              <a:t>AgentAvailable</a:t>
            </a:r>
            <a:r>
              <a:rPr sz="900" dirty="0"/>
              <a:t> avail -&gt; {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D4AA"/>
                </a:solidFill>
                <a:latin typeface="Consolas"/>
              </a:defRPr>
            </a:pPr>
            <a:r>
              <a:rPr sz="900" dirty="0"/>
              <a:t>      </a:t>
            </a:r>
            <a:r>
              <a:rPr sz="900" dirty="0" err="1"/>
              <a:t>state.markAgentAvailable</a:t>
            </a:r>
            <a:r>
              <a:rPr sz="900" dirty="0"/>
              <a:t>(</a:t>
            </a:r>
            <a:r>
              <a:rPr sz="900" dirty="0" err="1"/>
              <a:t>avail.agentId</a:t>
            </a:r>
            <a:r>
              <a:rPr sz="900" dirty="0"/>
              <a:t>());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D4AA"/>
                </a:solidFill>
                <a:latin typeface="Consolas"/>
              </a:defRPr>
            </a:pPr>
            <a:r>
              <a:rPr sz="900" dirty="0"/>
              <a:t>      </a:t>
            </a:r>
            <a:r>
              <a:rPr sz="900" dirty="0" err="1"/>
              <a:t>tryMatch</a:t>
            </a:r>
            <a:r>
              <a:rPr sz="900" dirty="0"/>
              <a:t>(state, context);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D4AA"/>
                </a:solidFill>
                <a:latin typeface="Consolas"/>
              </a:defRPr>
            </a:pPr>
            <a:r>
              <a:rPr sz="900" dirty="0"/>
              <a:t>    }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D4AA"/>
                </a:solidFill>
                <a:latin typeface="Consolas"/>
              </a:defRPr>
            </a:pPr>
            <a:r>
              <a:rPr sz="900" dirty="0"/>
              <a:t>    // ...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D4AA"/>
                </a:solidFill>
                <a:latin typeface="Consolas"/>
              </a:defRPr>
            </a:pPr>
            <a:r>
              <a:rPr sz="900" dirty="0"/>
              <a:t>  }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D4AA"/>
                </a:solidFill>
                <a:latin typeface="Consolas"/>
              </a:defRPr>
            </a:pPr>
            <a:r>
              <a:rPr sz="900" dirty="0"/>
              <a:t>  return state;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D4AA"/>
                </a:solidFill>
                <a:latin typeface="Consolas"/>
              </a:defRPr>
            </a:pPr>
            <a:r>
              <a:rPr sz="900" dirty="0"/>
              <a:t>}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D4AA"/>
                </a:solidFill>
                <a:latin typeface="Consolas"/>
              </a:defRPr>
            </a:pPr>
            <a:endParaRPr sz="900" dirty="0"/>
          </a:p>
          <a:p>
            <a:pPr algn="l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D4AA"/>
                </a:solidFill>
                <a:latin typeface="Consolas"/>
              </a:defRPr>
            </a:pPr>
            <a:r>
              <a:rPr sz="900" dirty="0"/>
              <a:t>private void </a:t>
            </a:r>
            <a:r>
              <a:rPr sz="900" dirty="0" err="1"/>
              <a:t>tryMatch</a:t>
            </a:r>
            <a:r>
              <a:rPr sz="900" dirty="0"/>
              <a:t>(</a:t>
            </a:r>
            <a:r>
              <a:rPr sz="900" dirty="0" err="1"/>
              <a:t>QueueState</a:t>
            </a:r>
            <a:r>
              <a:rPr sz="900" dirty="0"/>
              <a:t> state,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D4AA"/>
                </a:solidFill>
                <a:latin typeface="Consolas"/>
              </a:defRPr>
            </a:pPr>
            <a:r>
              <a:rPr sz="900" dirty="0"/>
              <a:t>                      </a:t>
            </a:r>
            <a:r>
              <a:rPr sz="900" dirty="0" err="1"/>
              <a:t>ActorContext</a:t>
            </a:r>
            <a:r>
              <a:rPr sz="900" dirty="0"/>
              <a:t> context) {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D4AA"/>
                </a:solidFill>
                <a:latin typeface="Consolas"/>
              </a:defRPr>
            </a:pPr>
            <a:r>
              <a:rPr sz="900" dirty="0"/>
              <a:t>  while (</a:t>
            </a:r>
            <a:r>
              <a:rPr sz="900" dirty="0" err="1"/>
              <a:t>state.hasAvailableAgents</a:t>
            </a:r>
            <a:r>
              <a:rPr sz="900" dirty="0"/>
              <a:t>()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D4AA"/>
                </a:solidFill>
                <a:latin typeface="Consolas"/>
              </a:defRPr>
            </a:pPr>
            <a:r>
              <a:rPr sz="900" dirty="0"/>
              <a:t>         &amp;&amp; </a:t>
            </a:r>
            <a:r>
              <a:rPr sz="900" dirty="0" err="1"/>
              <a:t>state.hasWaitingCalls</a:t>
            </a:r>
            <a:r>
              <a:rPr sz="900" dirty="0"/>
              <a:t>()) {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D4AA"/>
                </a:solidFill>
                <a:latin typeface="Consolas"/>
              </a:defRPr>
            </a:pPr>
            <a:r>
              <a:rPr sz="900" dirty="0"/>
              <a:t>    Pid agent = </a:t>
            </a:r>
            <a:r>
              <a:rPr sz="900" dirty="0" err="1"/>
              <a:t>state.pollAvailableAgent</a:t>
            </a:r>
            <a:r>
              <a:rPr sz="900" dirty="0"/>
              <a:t>();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D4AA"/>
                </a:solidFill>
                <a:latin typeface="Consolas"/>
              </a:defRPr>
            </a:pPr>
            <a:r>
              <a:rPr sz="900" dirty="0"/>
              <a:t>    var call  = </a:t>
            </a:r>
            <a:r>
              <a:rPr sz="900" dirty="0" err="1"/>
              <a:t>state.pollNextCall</a:t>
            </a:r>
            <a:r>
              <a:rPr sz="900" dirty="0"/>
              <a:t>();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D4AA"/>
                </a:solidFill>
                <a:latin typeface="Consolas"/>
              </a:defRPr>
            </a:pPr>
            <a:r>
              <a:rPr sz="900" dirty="0"/>
              <a:t>    </a:t>
            </a:r>
            <a:r>
              <a:rPr sz="900" dirty="0" err="1"/>
              <a:t>context.tell</a:t>
            </a:r>
            <a:r>
              <a:rPr sz="900" dirty="0"/>
              <a:t>(agent,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D4AA"/>
                </a:solidFill>
                <a:latin typeface="Consolas"/>
              </a:defRPr>
            </a:pPr>
            <a:r>
              <a:rPr sz="900" dirty="0"/>
              <a:t>      new </a:t>
            </a:r>
            <a:r>
              <a:rPr sz="900" dirty="0" err="1"/>
              <a:t>AssignCall</a:t>
            </a:r>
            <a:r>
              <a:rPr sz="900" dirty="0"/>
              <a:t>(</a:t>
            </a:r>
            <a:r>
              <a:rPr sz="900" dirty="0" err="1"/>
              <a:t>call.workItemId</a:t>
            </a:r>
            <a:r>
              <a:rPr sz="900" dirty="0"/>
              <a:t>()));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D4AA"/>
                </a:solidFill>
                <a:latin typeface="Consolas"/>
              </a:defRPr>
            </a:pPr>
            <a:r>
              <a:rPr sz="900" dirty="0"/>
              <a:t>    </a:t>
            </a:r>
            <a:r>
              <a:rPr sz="900" dirty="0" err="1"/>
              <a:t>context.tell</a:t>
            </a:r>
            <a:r>
              <a:rPr sz="900" dirty="0"/>
              <a:t>(</a:t>
            </a:r>
            <a:r>
              <a:rPr sz="900" dirty="0" err="1"/>
              <a:t>call.workItemId</a:t>
            </a:r>
            <a:r>
              <a:rPr sz="900" dirty="0"/>
              <a:t>(),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D4AA"/>
                </a:solidFill>
                <a:latin typeface="Consolas"/>
              </a:defRPr>
            </a:pPr>
            <a:r>
              <a:rPr sz="900" dirty="0"/>
              <a:t>      new </a:t>
            </a:r>
            <a:r>
              <a:rPr sz="900" dirty="0" err="1"/>
              <a:t>AgentAssigned</a:t>
            </a:r>
            <a:r>
              <a:rPr sz="900" dirty="0"/>
              <a:t>(agent));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D4AA"/>
                </a:solidFill>
                <a:latin typeface="Consolas"/>
              </a:defRPr>
            </a:pPr>
            <a:r>
              <a:rPr sz="900" dirty="0"/>
              <a:t>  }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D4AA"/>
                </a:solidFill>
                <a:latin typeface="Consolas"/>
              </a:defRPr>
            </a:pPr>
            <a:r>
              <a:rPr sz="900" dirty="0"/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1645920"/>
            <a:ext cx="4114800" cy="1005840"/>
          </a:xfrm>
          <a:prstGeom prst="roundRect">
            <a:avLst/>
          </a:prstGeom>
          <a:solidFill>
            <a:srgbClr val="1B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498079" y="1645920"/>
            <a:ext cx="54864" cy="10058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26679" y="173736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D4AA"/>
                </a:solidFill>
                <a:latin typeface="Calibri"/>
              </a:defRPr>
            </a:pPr>
            <a:r>
              <a:t>Pattern Matching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2057400"/>
            <a:ext cx="3200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CD0"/>
                </a:solidFill>
                <a:latin typeface="Calibri"/>
              </a:defRPr>
            </a:pPr>
            <a:r>
              <a:t>Java 21 switch expressions</a:t>
            </a:r>
            <a:br/>
            <a:r>
              <a:t>route messages by type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2788920"/>
            <a:ext cx="4114800" cy="1005840"/>
          </a:xfrm>
          <a:prstGeom prst="roundRect">
            <a:avLst/>
          </a:prstGeom>
          <a:solidFill>
            <a:srgbClr val="1B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498079" y="2788920"/>
            <a:ext cx="54864" cy="10058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26679" y="288036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D4AA"/>
                </a:solidFill>
                <a:latin typeface="Calibri"/>
              </a:defRPr>
            </a:pPr>
            <a:r>
              <a:t>Sequential Processing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3200400"/>
            <a:ext cx="3200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CD0"/>
                </a:solidFill>
                <a:latin typeface="Calibri"/>
              </a:defRPr>
            </a:pPr>
            <a:r>
              <a:t>One message at a time.</a:t>
            </a:r>
            <a:br/>
            <a:r>
              <a:t>No concurrent access</a:t>
            </a:r>
            <a:br/>
            <a:r>
              <a:t>to QueueState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79" y="3931920"/>
            <a:ext cx="4114800" cy="1005840"/>
          </a:xfrm>
          <a:prstGeom prst="roundRect">
            <a:avLst/>
          </a:prstGeom>
          <a:solidFill>
            <a:srgbClr val="1B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498079" y="3931920"/>
            <a:ext cx="54864" cy="10058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26679" y="402336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D4AA"/>
                </a:solidFill>
                <a:latin typeface="Calibri"/>
              </a:defRPr>
            </a:pPr>
            <a:r>
              <a:t>Instant Matching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4343400"/>
            <a:ext cx="3200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CD0"/>
                </a:solidFill>
                <a:latin typeface="Calibri"/>
              </a:defRPr>
            </a:pPr>
            <a:r>
              <a:t>tryMatch() loops through</a:t>
            </a:r>
            <a:br/>
            <a:r>
              <a:t>available agents. Pure</a:t>
            </a:r>
            <a:br/>
            <a:r>
              <a:t>in-memory, microseconds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5074920"/>
            <a:ext cx="4114800" cy="1005840"/>
          </a:xfrm>
          <a:prstGeom prst="roundRect">
            <a:avLst/>
          </a:prstGeom>
          <a:solidFill>
            <a:srgbClr val="1B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498079" y="5074920"/>
            <a:ext cx="54864" cy="10058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26679" y="516636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D4AA"/>
                </a:solidFill>
                <a:latin typeface="Calibri"/>
              </a:defRPr>
            </a:pPr>
            <a:r>
              <a:t>Tell, Don't Ask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79" y="5486400"/>
            <a:ext cx="3200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CD0"/>
                </a:solidFill>
                <a:latin typeface="Calibri"/>
              </a:defRPr>
            </a:pPr>
            <a:r>
              <a:t>Fire-and-forget messages.</a:t>
            </a:r>
            <a:br/>
            <a:r>
              <a:t>No blocking, no waiting</a:t>
            </a:r>
            <a:br/>
            <a:r>
              <a:t>for responses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A726"/>
                </a:solidFill>
                <a:latin typeface="Calibri"/>
              </a:defRPr>
            </a:pPr>
            <a:r>
              <a:t>Agent State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AgentHandler: Non-Blocking Lifecycle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943600" cy="4572000"/>
          </a:xfrm>
          <a:prstGeom prst="roundRect">
            <a:avLst/>
          </a:prstGeom>
          <a:solidFill>
            <a:srgbClr val="0D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5577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D4AA"/>
                </a:solidFill>
                <a:latin typeface="Consolas"/>
              </a:defRPr>
            </a:pPr>
            <a:r>
              <a:t>public AgentState receive(AgentMessage msg,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D4AA"/>
                </a:solidFill>
                <a:latin typeface="Consolas"/>
              </a:defRPr>
            </a:pPr>
            <a:r>
              <a:t>                         AgentState state,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D4AA"/>
                </a:solidFill>
                <a:latin typeface="Consolas"/>
              </a:defRPr>
            </a:pPr>
            <a:r>
              <a:t>                         ActorContext context) {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D4AA"/>
                </a:solidFill>
                <a:latin typeface="Consolas"/>
              </a:defRPr>
            </a:pPr>
            <a:r>
              <a:t>  switch (msg) {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D4AA"/>
                </a:solidFill>
                <a:latin typeface="Consolas"/>
              </a:defRPr>
            </a:pPr>
            <a:r>
              <a:t>    case AssignCall ac -&gt; {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D4AA"/>
                </a:solidFill>
                <a:latin typeface="Consolas"/>
              </a:defRPr>
            </a:pPr>
            <a:r>
              <a:t>      state.setStatus(Status.BUSY);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D4AA"/>
                </a:solidFill>
                <a:latin typeface="Consolas"/>
              </a:defRPr>
            </a:pPr>
            <a:r>
              <a:t>      // Non-blocking delay: no thread held!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D4AA"/>
                </a:solidFill>
                <a:latin typeface="Consolas"/>
              </a:defRPr>
            </a:pPr>
            <a:r>
              <a:t>      context.tellSelf(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D4AA"/>
                </a:solidFill>
                <a:latin typeface="Consolas"/>
              </a:defRPr>
            </a:pPr>
            <a:r>
              <a:t>        new FinishCall(), 2, TimeUnit.SECONDS);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D4AA"/>
                </a:solidFill>
                <a:latin typeface="Consolas"/>
              </a:defRPr>
            </a:pPr>
            <a:r>
              <a:t>    }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D4AA"/>
                </a:solidFill>
                <a:latin typeface="Consolas"/>
              </a:defRPr>
            </a:pPr>
            <a:r>
              <a:t>    case FinishCall f -&gt; {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D4AA"/>
                </a:solidFill>
                <a:latin typeface="Consolas"/>
              </a:defRPr>
            </a:pPr>
            <a:r>
              <a:t>      state.incrementCallsHandled();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D4AA"/>
                </a:solidFill>
                <a:latin typeface="Consolas"/>
              </a:defRPr>
            </a:pPr>
            <a:r>
              <a:t>      state.setStatus(Status.WRAP_UP);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D4AA"/>
                </a:solidFill>
                <a:latin typeface="Consolas"/>
              </a:defRPr>
            </a:pPr>
            <a:r>
              <a:t>      context.tellSelf(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D4AA"/>
                </a:solidFill>
                <a:latin typeface="Consolas"/>
              </a:defRPr>
            </a:pPr>
            <a:r>
              <a:t>        new WrapUpComplete(), 1, TimeUnit.SECONDS);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D4AA"/>
                </a:solidFill>
                <a:latin typeface="Consolas"/>
              </a:defRPr>
            </a:pPr>
            <a:r>
              <a:t>    }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D4AA"/>
                </a:solidFill>
                <a:latin typeface="Consolas"/>
              </a:defRPr>
            </a:pPr>
            <a:r>
              <a:t>    case WrapUpComplete w -&gt; {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D4AA"/>
                </a:solidFill>
                <a:latin typeface="Consolas"/>
              </a:defRPr>
            </a:pPr>
            <a:r>
              <a:t>      state.setStatus(Status.AVAILABLE);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D4AA"/>
                </a:solidFill>
                <a:latin typeface="Consolas"/>
              </a:defRPr>
            </a:pPr>
            <a:r>
              <a:t>      context.tell(queueId,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D4AA"/>
                </a:solidFill>
                <a:latin typeface="Consolas"/>
              </a:defRPr>
            </a:pPr>
            <a:r>
              <a:t>        new AgentAvailable(context.self()));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D4AA"/>
                </a:solidFill>
                <a:latin typeface="Consolas"/>
              </a:defRPr>
            </a:pPr>
            <a:r>
              <a:t>    }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D4AA"/>
                </a:solidFill>
                <a:latin typeface="Consolas"/>
              </a:defRPr>
            </a:pPr>
            <a:r>
              <a:t>  }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D4AA"/>
                </a:solidFill>
                <a:latin typeface="Consolas"/>
              </a:defRPr>
            </a:pPr>
            <a:r>
              <a:t>  return state;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D4AA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828800"/>
            <a:ext cx="3840480" cy="777240"/>
          </a:xfrm>
          <a:prstGeom prst="roundRect">
            <a:avLst/>
          </a:prstGeom>
          <a:solidFill>
            <a:srgbClr val="1B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132320" y="1828800"/>
            <a:ext cx="73152" cy="7772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406640" y="1965960"/>
            <a:ext cx="457200" cy="45720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0" y="1901952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onsolas"/>
              </a:defRPr>
            </a:pPr>
            <a:r>
              <a:t>AVAILABLE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24028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CD0"/>
                </a:solidFill>
                <a:latin typeface="Calibri"/>
              </a:defRPr>
            </a:pPr>
            <a:r>
              <a:t>Ready for calls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62088" y="2606040"/>
            <a:ext cx="182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6B7B93"/>
                </a:solidFill>
                <a:latin typeface="Consolas"/>
              </a:defRPr>
            </a:pPr>
            <a:r>
              <a:t>V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3017520"/>
            <a:ext cx="3840480" cy="777240"/>
          </a:xfrm>
          <a:prstGeom prst="roundRect">
            <a:avLst/>
          </a:prstGeom>
          <a:solidFill>
            <a:srgbClr val="1B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132320" y="3017520"/>
            <a:ext cx="73152" cy="77724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406640" y="3154680"/>
            <a:ext cx="457200" cy="4572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0" y="3090672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onsolas"/>
              </a:defRPr>
            </a:pPr>
            <a:r>
              <a:t>BUSY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342900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CD0"/>
                </a:solidFill>
                <a:latin typeface="Calibri"/>
              </a:defRPr>
            </a:pPr>
            <a:r>
              <a:t>Handling 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2088" y="3794760"/>
            <a:ext cx="182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6B7B93"/>
                </a:solidFill>
                <a:latin typeface="Consolas"/>
              </a:defRPr>
            </a:pPr>
            <a:r>
              <a:t>V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4206240"/>
            <a:ext cx="3840480" cy="777240"/>
          </a:xfrm>
          <a:prstGeom prst="roundRect">
            <a:avLst/>
          </a:prstGeom>
          <a:solidFill>
            <a:srgbClr val="1B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132320" y="4206240"/>
            <a:ext cx="73152" cy="777240"/>
          </a:xfrm>
          <a:prstGeom prst="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406640" y="4343400"/>
            <a:ext cx="457200" cy="457200"/>
          </a:xfrm>
          <a:prstGeom prst="ellipse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46720" y="4279392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onsolas"/>
              </a:defRPr>
            </a:pPr>
            <a:r>
              <a:t>WRAP_UP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461772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CD0"/>
                </a:solidFill>
                <a:latin typeface="Calibri"/>
              </a:defRPr>
            </a:pPr>
            <a:r>
              <a:t>Post-call 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5120640"/>
            <a:ext cx="3657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D4AA"/>
                </a:solidFill>
                <a:latin typeface="Calibri"/>
              </a:defRPr>
            </a:pPr>
            <a:r>
              <a:t>AgentAvailable msg</a:t>
            </a:r>
            <a:br/>
            <a:r>
              <a:t>back to Queue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562356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D4AA"/>
                </a:solidFill>
                <a:latin typeface="Consolas"/>
              </a:defRPr>
            </a:pPr>
            <a:r>
              <a:t>^  loops back to AVAILABLE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4B5F6"/>
                </a:solidFill>
                <a:latin typeface="Calibri"/>
              </a:defRPr>
            </a:pPr>
            <a:r>
              <a:t>Head to Head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Spring + JPA vs. Cajun Actors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640080"/>
          </a:xfrm>
          <a:prstGeom prst="roundRect">
            <a:avLst/>
          </a:prstGeom>
          <a:solidFill>
            <a:srgbClr val="2A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5212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6B6B"/>
                </a:solidFill>
                <a:latin typeface="Calibri"/>
              </a:defRPr>
            </a:pPr>
            <a:r>
              <a:t>Spring Boot + JPA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5212080" cy="640080"/>
          </a:xfrm>
          <a:prstGeom prst="roundRect">
            <a:avLst/>
          </a:prstGeom>
          <a:solidFill>
            <a:srgbClr val="0A2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691640"/>
            <a:ext cx="5212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D4AA"/>
                </a:solidFill>
                <a:latin typeface="Calibri"/>
              </a:defRPr>
            </a:pPr>
            <a:r>
              <a:t>Cajun Actor Framework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468880"/>
            <a:ext cx="5212080" cy="548640"/>
          </a:xfrm>
          <a:prstGeom prst="rect">
            <a:avLst/>
          </a:prstGeom>
          <a:solidFill>
            <a:srgbClr val="1B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0" y="2468880"/>
            <a:ext cx="5212080" cy="548640"/>
          </a:xfrm>
          <a:prstGeom prst="rect">
            <a:avLst/>
          </a:prstGeom>
          <a:solidFill>
            <a:srgbClr val="1B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029200" y="2560320"/>
            <a:ext cx="2011680" cy="365760"/>
          </a:xfrm>
          <a:prstGeom prst="roundRect">
            <a:avLst/>
          </a:prstGeom>
          <a:solidFill>
            <a:srgbClr val="0D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0" y="256032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4B5F6"/>
                </a:solidFill>
                <a:latin typeface="Calibri"/>
              </a:defRPr>
            </a:pPr>
            <a:r>
              <a:t>Concurrency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578608"/>
            <a:ext cx="4114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CD0"/>
                </a:solidFill>
                <a:latin typeface="Calibri"/>
              </a:defRPr>
            </a:pPr>
            <a:r>
              <a:t>Thread-per-request, explicit locks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578608"/>
            <a:ext cx="4114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Mailbox isolation, sequential processing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108960"/>
            <a:ext cx="5212080" cy="548640"/>
          </a:xfrm>
          <a:prstGeom prst="rect">
            <a:avLst/>
          </a:prstGeom>
          <a:solidFill>
            <a:srgbClr val="16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0" y="3108960"/>
            <a:ext cx="5212080" cy="548640"/>
          </a:xfrm>
          <a:prstGeom prst="rect">
            <a:avLst/>
          </a:prstGeom>
          <a:solidFill>
            <a:srgbClr val="16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029200" y="3200400"/>
            <a:ext cx="2011680" cy="365760"/>
          </a:xfrm>
          <a:prstGeom prst="roundRect">
            <a:avLst/>
          </a:prstGeom>
          <a:solidFill>
            <a:srgbClr val="0D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0" y="320040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4B5F6"/>
                </a:solidFill>
                <a:latin typeface="Calibri"/>
              </a:defRPr>
            </a:pPr>
            <a:r>
              <a:t>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218688"/>
            <a:ext cx="4114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CD0"/>
                </a:solidFill>
                <a:latin typeface="Calibri"/>
              </a:defRPr>
            </a:pPr>
            <a:r>
              <a:t>Database rows with @Version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218688"/>
            <a:ext cx="4114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In-memory, actor-confined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749040"/>
            <a:ext cx="5212080" cy="548640"/>
          </a:xfrm>
          <a:prstGeom prst="rect">
            <a:avLst/>
          </a:prstGeom>
          <a:solidFill>
            <a:srgbClr val="1B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00800" y="3749040"/>
            <a:ext cx="5212080" cy="548640"/>
          </a:xfrm>
          <a:prstGeom prst="rect">
            <a:avLst/>
          </a:prstGeom>
          <a:solidFill>
            <a:srgbClr val="1B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029200" y="3840480"/>
            <a:ext cx="2011680" cy="365760"/>
          </a:xfrm>
          <a:prstGeom prst="roundRect">
            <a:avLst/>
          </a:prstGeom>
          <a:solidFill>
            <a:srgbClr val="0D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0" y="384048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4B5F6"/>
                </a:solidFill>
                <a:latin typeface="Calibri"/>
              </a:defRPr>
            </a:pPr>
            <a:r>
              <a:t>Routing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858768"/>
            <a:ext cx="4114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CD0"/>
                </a:solidFill>
                <a:latin typeface="Calibri"/>
              </a:defRPr>
            </a:pPr>
            <a:r>
              <a:t>SELECT FOR UPDATE + retries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858768"/>
            <a:ext cx="4114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tryMatch() in microseconds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389120"/>
            <a:ext cx="5212080" cy="548640"/>
          </a:xfrm>
          <a:prstGeom prst="rect">
            <a:avLst/>
          </a:prstGeom>
          <a:solidFill>
            <a:srgbClr val="16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00800" y="4389120"/>
            <a:ext cx="5212080" cy="548640"/>
          </a:xfrm>
          <a:prstGeom prst="rect">
            <a:avLst/>
          </a:prstGeom>
          <a:solidFill>
            <a:srgbClr val="16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5029200" y="4480560"/>
            <a:ext cx="2011680" cy="365760"/>
          </a:xfrm>
          <a:prstGeom prst="roundRect">
            <a:avLst/>
          </a:prstGeom>
          <a:solidFill>
            <a:srgbClr val="0D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9200" y="448056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4B5F6"/>
                </a:solidFill>
                <a:latin typeface="Calibri"/>
              </a:defRPr>
            </a:pPr>
            <a:r>
              <a:t>Scaling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498848"/>
            <a:ext cx="4114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CD0"/>
                </a:solidFill>
                <a:latin typeface="Calibri"/>
              </a:defRPr>
            </a:pPr>
            <a:r>
              <a:t>More threads = more DB contention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4498848"/>
            <a:ext cx="4114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More actors = linear scaling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5029200"/>
            <a:ext cx="5212080" cy="548640"/>
          </a:xfrm>
          <a:prstGeom prst="rect">
            <a:avLst/>
          </a:prstGeom>
          <a:solidFill>
            <a:srgbClr val="1B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400800" y="5029200"/>
            <a:ext cx="5212080" cy="548640"/>
          </a:xfrm>
          <a:prstGeom prst="rect">
            <a:avLst/>
          </a:prstGeom>
          <a:solidFill>
            <a:srgbClr val="1B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5029200" y="5120640"/>
            <a:ext cx="2011680" cy="365760"/>
          </a:xfrm>
          <a:prstGeom prst="roundRect">
            <a:avLst/>
          </a:prstGeom>
          <a:solidFill>
            <a:srgbClr val="0D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029200" y="512064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4B5F6"/>
                </a:solidFill>
                <a:latin typeface="Calibri"/>
              </a:defRPr>
            </a:pPr>
            <a:r>
              <a:t>Failures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138928"/>
            <a:ext cx="4114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CD0"/>
                </a:solidFill>
                <a:latin typeface="Calibri"/>
              </a:defRPr>
            </a:pPr>
            <a:r>
              <a:t>OptimisticLockException, deadlocks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5138928"/>
            <a:ext cx="4114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Let-it-crash, supervisor restart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5669280"/>
            <a:ext cx="5212080" cy="548640"/>
          </a:xfrm>
          <a:prstGeom prst="rect">
            <a:avLst/>
          </a:prstGeom>
          <a:solidFill>
            <a:srgbClr val="16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400800" y="5669280"/>
            <a:ext cx="5212080" cy="548640"/>
          </a:xfrm>
          <a:prstGeom prst="rect">
            <a:avLst/>
          </a:prstGeom>
          <a:solidFill>
            <a:srgbClr val="16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5029200" y="5760720"/>
            <a:ext cx="2011680" cy="365760"/>
          </a:xfrm>
          <a:prstGeom prst="roundRect">
            <a:avLst/>
          </a:prstGeom>
          <a:solidFill>
            <a:srgbClr val="0D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029200" y="576072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4B5F6"/>
                </a:solidFill>
                <a:latin typeface="Calibri"/>
              </a:defRPr>
            </a:pPr>
            <a:r>
              <a:t>Delays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5779008"/>
            <a:ext cx="4114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CD0"/>
                </a:solidFill>
                <a:latin typeface="Calibri"/>
              </a:defRPr>
            </a:pPr>
            <a:r>
              <a:t>Thread.sleep() blocks thread pool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0" y="5779008"/>
            <a:ext cx="4114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tellSelf(delay) non-blocking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D4AA"/>
                </a:solidFill>
                <a:latin typeface="Calibri"/>
              </a:defRPr>
            </a:pPr>
            <a:r>
              <a:t>Getting Started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Spinning Up the Call Center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943600" cy="4754880"/>
          </a:xfrm>
          <a:prstGeom prst="roundRect">
            <a:avLst/>
          </a:prstGeom>
          <a:solidFill>
            <a:srgbClr val="0D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5577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D4AA"/>
                </a:solidFill>
                <a:latin typeface="Consolas"/>
              </a:defRPr>
            </a:pPr>
            <a:r>
              <a:t>ActorSystem system = new ActorSystem();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D4AA"/>
                </a:solidFill>
                <a:latin typeface="Consolas"/>
              </a:defRPr>
            </a:pPr>
            <a:endParaRPr/>
          </a:p>
          <a:p>
            <a:pPr algn="l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D4AA"/>
                </a:solidFill>
                <a:latin typeface="Consolas"/>
              </a:defRPr>
            </a:pPr>
            <a:r>
              <a:t>// 1. Spawn the Queue Actor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D4AA"/>
                </a:solidFill>
                <a:latin typeface="Consolas"/>
              </a:defRPr>
            </a:pPr>
            <a:r>
              <a:t>Pid queue = system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D4AA"/>
                </a:solidFill>
                <a:latin typeface="Consolas"/>
              </a:defRPr>
            </a:pPr>
            <a:r>
              <a:t>    .statefulActorOf(new QueueHandler(),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D4AA"/>
                </a:solidFill>
                <a:latin typeface="Consolas"/>
              </a:defRPr>
            </a:pPr>
            <a:r>
              <a:t>                     new QueueState())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D4AA"/>
                </a:solidFill>
                <a:latin typeface="Consolas"/>
              </a:defRPr>
            </a:pPr>
            <a:r>
              <a:t>    .withId("support-queue")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D4AA"/>
                </a:solidFill>
                <a:latin typeface="Consolas"/>
              </a:defRPr>
            </a:pPr>
            <a:r>
              <a:t>    .spawn();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D4AA"/>
                </a:solidFill>
                <a:latin typeface="Consolas"/>
              </a:defRPr>
            </a:pPr>
            <a:endParaRPr/>
          </a:p>
          <a:p>
            <a:pPr algn="l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D4AA"/>
                </a:solidFill>
                <a:latin typeface="Consolas"/>
              </a:defRPr>
            </a:pPr>
            <a:r>
              <a:t>// 2. Spawn Agent Actors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D4AA"/>
                </a:solidFill>
                <a:latin typeface="Consolas"/>
              </a:defRPr>
            </a:pPr>
            <a:r>
              <a:t>Pid alice = system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D4AA"/>
                </a:solidFill>
                <a:latin typeface="Consolas"/>
              </a:defRPr>
            </a:pPr>
            <a:r>
              <a:t>    .statefulActorOf(new AgentHandler(queue),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D4AA"/>
                </a:solidFill>
                <a:latin typeface="Consolas"/>
              </a:defRPr>
            </a:pPr>
            <a:r>
              <a:t>                     new AgentState("Alice"))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D4AA"/>
                </a:solidFill>
                <a:latin typeface="Consolas"/>
              </a:defRPr>
            </a:pPr>
            <a:r>
              <a:t>    .withId("agent-alice")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D4AA"/>
                </a:solidFill>
                <a:latin typeface="Consolas"/>
              </a:defRPr>
            </a:pPr>
            <a:r>
              <a:t>    .spawn();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D4AA"/>
                </a:solidFill>
                <a:latin typeface="Consolas"/>
              </a:defRPr>
            </a:pPr>
            <a:endParaRPr/>
          </a:p>
          <a:p>
            <a:pPr algn="l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D4AA"/>
                </a:solidFill>
                <a:latin typeface="Consolas"/>
              </a:defRPr>
            </a:pPr>
            <a:r>
              <a:t>// 3. Register agents with the queue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D4AA"/>
                </a:solidFill>
                <a:latin typeface="Consolas"/>
              </a:defRPr>
            </a:pPr>
            <a:r>
              <a:t>system.tell(queue,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D4AA"/>
                </a:solidFill>
                <a:latin typeface="Consolas"/>
              </a:defRPr>
            </a:pPr>
            <a:r>
              <a:t>    new RegisterAgent(alice, "Alice"));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D4AA"/>
                </a:solidFill>
                <a:latin typeface="Consolas"/>
              </a:defRPr>
            </a:pPr>
            <a:endParaRPr/>
          </a:p>
          <a:p>
            <a:pPr algn="l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D4AA"/>
                </a:solidFill>
                <a:latin typeface="Consolas"/>
              </a:defRPr>
            </a:pPr>
            <a:r>
              <a:t>// 4. Start the webhook server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D4AA"/>
                </a:solidFill>
                <a:latin typeface="Consolas"/>
              </a:defRPr>
            </a:pPr>
            <a:r>
              <a:t>new TelephonyServer(system, queue, 7000)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D4AA"/>
                </a:solidFill>
                <a:latin typeface="Consolas"/>
              </a:defRPr>
            </a:pPr>
            <a:r>
              <a:t>    .start();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45920"/>
            <a:ext cx="4389120" cy="1005840"/>
          </a:xfrm>
          <a:prstGeom prst="roundRect">
            <a:avLst/>
          </a:prstGeom>
          <a:solidFill>
            <a:srgbClr val="1B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132320" y="1645920"/>
            <a:ext cx="54864" cy="10058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60920" y="1737360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D4AA"/>
                </a:solidFill>
                <a:latin typeface="Calibri"/>
              </a:defRPr>
            </a:pPr>
            <a:r>
              <a:t>Fluent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2084832"/>
            <a:ext cx="34747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CD0"/>
                </a:solidFill>
                <a:latin typeface="Calibri"/>
              </a:defRPr>
            </a:pPr>
            <a:r>
              <a:t>Spawn actors with builder pattern.</a:t>
            </a:r>
            <a:br/>
            <a:r>
              <a:t>withId() for named addressing.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2788920"/>
            <a:ext cx="4389120" cy="1005840"/>
          </a:xfrm>
          <a:prstGeom prst="roundRect">
            <a:avLst/>
          </a:prstGeom>
          <a:solidFill>
            <a:srgbClr val="1B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132320" y="2788920"/>
            <a:ext cx="54864" cy="10058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60920" y="2880360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D4AA"/>
                </a:solidFill>
                <a:latin typeface="Calibri"/>
              </a:defRPr>
            </a:pPr>
            <a:r>
              <a:t>Typed Messages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3227832"/>
            <a:ext cx="34747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CD0"/>
                </a:solidFill>
                <a:latin typeface="Calibri"/>
              </a:defRPr>
            </a:pPr>
            <a:r>
              <a:t>Java 21 sealed interfaces</a:t>
            </a:r>
            <a:br/>
            <a:r>
              <a:t>with record-based messages.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0" y="3931920"/>
            <a:ext cx="4389120" cy="1005840"/>
          </a:xfrm>
          <a:prstGeom prst="roundRect">
            <a:avLst/>
          </a:prstGeom>
          <a:solidFill>
            <a:srgbClr val="1B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132320" y="3931920"/>
            <a:ext cx="54864" cy="10058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60920" y="4023360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D4AA"/>
                </a:solidFill>
                <a:latin typeface="Calibri"/>
              </a:defRPr>
            </a:pPr>
            <a:r>
              <a:t>Webhook Ready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4370832"/>
            <a:ext cx="34747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CD0"/>
                </a:solidFill>
                <a:latin typeface="Calibri"/>
              </a:defRPr>
            </a:pPr>
            <a:r>
              <a:t>Javalin server converts HTTP</a:t>
            </a:r>
            <a:br/>
            <a:r>
              <a:t>into actor messages instantly.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5074920"/>
            <a:ext cx="4389120" cy="1005840"/>
          </a:xfrm>
          <a:prstGeom prst="roundRect">
            <a:avLst/>
          </a:prstGeom>
          <a:solidFill>
            <a:srgbClr val="1B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132320" y="5074920"/>
            <a:ext cx="54864" cy="10058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60920" y="5166360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D4AA"/>
                </a:solidFill>
                <a:latin typeface="Calibri"/>
              </a:defRPr>
            </a:pPr>
            <a:r>
              <a:t>No Spring Config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20" y="5513832"/>
            <a:ext cx="34747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0BCD0"/>
                </a:solidFill>
                <a:latin typeface="Calibri"/>
              </a:defRPr>
            </a:pPr>
            <a:r>
              <a:t>No @Autowired, no @Bean.</a:t>
            </a:r>
            <a:br/>
            <a:r>
              <a:t>Just actors and messages.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D4AA"/>
                </a:solidFill>
                <a:latin typeface="Calibri"/>
              </a:defRPr>
            </a:pPr>
            <a:r>
              <a:t>Why Actors 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Actor Advantage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029200" cy="2011680"/>
          </a:xfrm>
          <a:prstGeom prst="roundRect">
            <a:avLst/>
          </a:prstGeom>
          <a:solidFill>
            <a:srgbClr val="1B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54864" cy="20116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2743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00D4AA"/>
                </a:solidFill>
                <a:latin typeface="Calibri"/>
              </a:defRPr>
            </a:pPr>
            <a:r>
              <a:t>Zero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0604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Locks Required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71800"/>
            <a:ext cx="4114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CD0"/>
                </a:solidFill>
                <a:latin typeface="Calibri"/>
              </a:defRPr>
            </a:pPr>
            <a:r>
              <a:t>Mailbox isolation guarantees</a:t>
            </a:r>
            <a:br/>
            <a:r>
              <a:t>thread-safe state access</a:t>
            </a:r>
            <a:br/>
            <a:r>
              <a:t>without any synchronization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5029200" cy="2011680"/>
          </a:xfrm>
          <a:prstGeom prst="roundRect">
            <a:avLst/>
          </a:prstGeom>
          <a:solidFill>
            <a:srgbClr val="1B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737360"/>
            <a:ext cx="54864" cy="201168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0" y="1920240"/>
            <a:ext cx="2743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64B5F6"/>
                </a:solidFill>
                <a:latin typeface="Calibri"/>
              </a:defRPr>
            </a:pPr>
            <a:r>
              <a:t>Zero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60604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Race Conditions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971800"/>
            <a:ext cx="4114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CD0"/>
                </a:solidFill>
                <a:latin typeface="Calibri"/>
              </a:defRPr>
            </a:pPr>
            <a:r>
              <a:t>Sequential message processing</a:t>
            </a:r>
            <a:br/>
            <a:r>
              <a:t>means no concurrent writes</a:t>
            </a:r>
            <a:br/>
            <a:r>
              <a:t>to shared state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023360"/>
            <a:ext cx="5029200" cy="2011680"/>
          </a:xfrm>
          <a:prstGeom prst="roundRect">
            <a:avLst/>
          </a:prstGeom>
          <a:solidFill>
            <a:srgbClr val="1B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4023360"/>
            <a:ext cx="54864" cy="2011680"/>
          </a:xfrm>
          <a:prstGeom prst="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4206240"/>
            <a:ext cx="2743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A726"/>
                </a:solidFill>
                <a:latin typeface="Calibri"/>
              </a:defRPr>
            </a:pPr>
            <a:r>
              <a:t>Zero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89204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DB Contention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257800"/>
            <a:ext cx="4114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CD0"/>
                </a:solidFill>
                <a:latin typeface="Calibri"/>
              </a:defRPr>
            </a:pPr>
            <a:r>
              <a:t>All routing logic happens</a:t>
            </a:r>
            <a:br/>
            <a:r>
              <a:t>in-memory. No database</a:t>
            </a:r>
            <a:br/>
            <a:r>
              <a:t>in the hot path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023360"/>
            <a:ext cx="5029200" cy="2011680"/>
          </a:xfrm>
          <a:prstGeom prst="roundRect">
            <a:avLst/>
          </a:prstGeom>
          <a:solidFill>
            <a:srgbClr val="1B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17920" y="4023360"/>
            <a:ext cx="54864" cy="201168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0" y="4206240"/>
            <a:ext cx="2743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AB47BC"/>
                </a:solidFill>
                <a:latin typeface="Calibri"/>
              </a:defRPr>
            </a:pPr>
            <a:r>
              <a:t>Linear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89204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Scalability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5257800"/>
            <a:ext cx="4114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CD0"/>
                </a:solidFill>
                <a:latin typeface="Calibri"/>
              </a:defRPr>
            </a:pPr>
            <a:r>
              <a:t>Add more actors, not more</a:t>
            </a:r>
            <a:br/>
            <a:r>
              <a:t>threads. ForkJoinPool handles</a:t>
            </a:r>
            <a:br/>
            <a:r>
              <a:t>work-stealing efficiently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AB47BC"/>
                </a:solidFill>
                <a:latin typeface="Calibri"/>
              </a:defRPr>
            </a:pPr>
            <a:r>
              <a:t>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From Simulation to AI-Powered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B0BCD0"/>
                </a:solidFill>
                <a:latin typeface="Calibri"/>
              </a:defRPr>
            </a:pPr>
            <a:r>
              <a:t>The Cajun ecosystem includes Cjent, an AI agent framework. By replacing the simulated AgentHandler with a Cjent AI Actor, you get an LLM that automatically answers queued calls — using the same actor infrastructure.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5029200" cy="2926080"/>
          </a:xfrm>
          <a:prstGeom prst="roundRect">
            <a:avLst/>
          </a:prstGeom>
          <a:solidFill>
            <a:srgbClr val="1B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2743200"/>
            <a:ext cx="5029200" cy="73152"/>
          </a:xfrm>
          <a:prstGeom prst="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971800"/>
            <a:ext cx="4389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A726"/>
                </a:solidFill>
                <a:latin typeface="Calibri"/>
              </a:defRPr>
            </a:pPr>
            <a:r>
              <a:t>Today: Simulated Agents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474720"/>
            <a:ext cx="438912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0BCD0"/>
                </a:solidFill>
                <a:latin typeface="Calibri"/>
              </a:defRPr>
            </a:pPr>
            <a:r>
              <a:t>AgentHandler uses tellSelf(delay)</a:t>
            </a:r>
            <a:br/>
            <a:r>
              <a:t>to simulate call handling.</a:t>
            </a:r>
            <a:br/>
            <a:br/>
            <a:r>
              <a:t>Great for demos, load testing,</a:t>
            </a:r>
            <a:br/>
            <a:r>
              <a:t>and proving the architecture.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743200"/>
            <a:ext cx="5029200" cy="2926080"/>
          </a:xfrm>
          <a:prstGeom prst="roundRect">
            <a:avLst/>
          </a:prstGeom>
          <a:solidFill>
            <a:srgbClr val="1B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0" y="2743200"/>
            <a:ext cx="5029200" cy="73152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0" y="2971800"/>
            <a:ext cx="4389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AB47BC"/>
                </a:solidFill>
                <a:latin typeface="Calibri"/>
              </a:defRPr>
            </a:pPr>
            <a:r>
              <a:t>Tomorrow: AI Agents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474720"/>
            <a:ext cx="438912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0BCD0"/>
                </a:solidFill>
                <a:latin typeface="Calibri"/>
              </a:defRPr>
            </a:pPr>
            <a:r>
              <a:t>Swap AgentHandler for a Cjent actor.</a:t>
            </a:r>
            <a:br/>
            <a:r>
              <a:t>LLM handles calls autonomously.</a:t>
            </a:r>
            <a:br/>
            <a:br/>
            <a:r>
              <a:t>Same mailbox, same Queue,</a:t>
            </a:r>
            <a:br/>
            <a:r>
              <a:t>same routing. Just smarter agents.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3657600"/>
            <a:ext cx="914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6B7B93"/>
                </a:solidFill>
                <a:latin typeface="Consolas"/>
              </a:defRPr>
            </a:pPr>
            <a:r>
              <a:t>&gt;&gt;&gt;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57200" y="914400"/>
            <a:ext cx="3200400" cy="320040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31520" y="1188720"/>
            <a:ext cx="2651760" cy="2651760"/>
          </a:xfrm>
          <a:prstGeom prst="ellipse">
            <a:avLst/>
          </a:prstGeom>
          <a:solidFill>
            <a:srgbClr val="12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05840" y="1463040"/>
            <a:ext cx="2103120" cy="2103120"/>
          </a:xfrm>
          <a:prstGeom prst="ellipse">
            <a:avLst/>
          </a:prstGeom>
          <a:solidFill>
            <a:srgbClr val="1B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0" y="1371600"/>
            <a:ext cx="73152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Actors Make</a:t>
            </a:r>
            <a:br/>
            <a:r>
              <a:t>Concurrency Natural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320040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B0BCD0"/>
                </a:solidFill>
                <a:latin typeface="Calibri"/>
              </a:defRPr>
            </a:pPr>
            <a:r>
              <a:t>No locks. No race conditions. No database contention.</a:t>
            </a:r>
            <a:br/>
            <a:r>
              <a:t>Just messages, mailboxes, and clean state machines.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4754880"/>
            <a:ext cx="2011680" cy="457200"/>
          </a:xfrm>
          <a:prstGeom prst="roundRect">
            <a:avLst/>
          </a:prstGeom>
          <a:solidFill>
            <a:srgbClr val="1B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0" y="475488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D4AA"/>
                </a:solidFill>
                <a:latin typeface="Consolas"/>
              </a:defRPr>
            </a:pPr>
            <a:r>
              <a:t>github.com/cajunsystems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4754880"/>
            <a:ext cx="2011680" cy="457200"/>
          </a:xfrm>
          <a:prstGeom prst="roundRect">
            <a:avLst/>
          </a:prstGeom>
          <a:solidFill>
            <a:srgbClr val="1B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0" y="475488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D4AA"/>
                </a:solidFill>
                <a:latin typeface="Consolas"/>
              </a:defRPr>
            </a:pPr>
            <a:r>
              <a:t>Java 21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4754880"/>
            <a:ext cx="2011680" cy="457200"/>
          </a:xfrm>
          <a:prstGeom prst="roundRect">
            <a:avLst/>
          </a:prstGeom>
          <a:solidFill>
            <a:srgbClr val="1B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0" y="475488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D4AA"/>
                </a:solidFill>
                <a:latin typeface="Consolas"/>
              </a:defRPr>
            </a:pPr>
            <a:r>
              <a:t>Actor Model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15600" y="4754880"/>
            <a:ext cx="2011680" cy="457200"/>
          </a:xfrm>
          <a:prstGeom prst="roundRect">
            <a:avLst/>
          </a:prstGeom>
          <a:solidFill>
            <a:srgbClr val="1B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0" y="475488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D4AA"/>
                </a:solidFill>
                <a:latin typeface="Consolas"/>
              </a:defRPr>
            </a:pPr>
            <a:r>
              <a:t>Cajun Framework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B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63550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1490</Words>
  <Application>Microsoft Macintosh PowerPoint</Application>
  <PresentationFormat>Widescreen</PresentationFormat>
  <Paragraphs>276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Pradeep  Samuel</cp:lastModifiedBy>
  <cp:revision>2</cp:revision>
  <dcterms:created xsi:type="dcterms:W3CDTF">2013-01-27T09:14:16Z</dcterms:created>
  <dcterms:modified xsi:type="dcterms:W3CDTF">2026-04-09T14:39:21Z</dcterms:modified>
  <cp:category/>
</cp:coreProperties>
</file>